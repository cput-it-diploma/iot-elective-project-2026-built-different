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1"/>
  </p:notesMasterIdLst>
  <p:handoutMasterIdLst>
    <p:handoutMasterId r:id="rId12"/>
  </p:handoutMasterIdLst>
  <p:sldIdLst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30"/>
  </p:normalViewPr>
  <p:slideViewPr>
    <p:cSldViewPr showGuides="1">
      <p:cViewPr varScale="1">
        <p:scale>
          <a:sx n="64" d="100"/>
          <a:sy n="64" d="100"/>
        </p:scale>
        <p:origin x="9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Built Different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48E78C-2DCB-6C24-F45E-18297B8A68BA}"/>
              </a:ext>
            </a:extLst>
          </p:cNvPr>
          <p:cNvSpPr txBox="1"/>
          <p:nvPr/>
        </p:nvSpPr>
        <p:spPr>
          <a:xfrm>
            <a:off x="1055440" y="3284984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Working Prototype Summary</a:t>
            </a:r>
          </a:p>
          <a:p>
            <a:r>
              <a:rPr lang="en-ZA" dirty="0">
                <a:solidFill>
                  <a:schemeClr val="bg1"/>
                </a:solidFill>
                <a:effectLst/>
              </a:rPr>
              <a:t>20 April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7CED9-D397-0534-8E6F-3859DD30E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73" y="980728"/>
            <a:ext cx="10618254" cy="128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4014-632E-E227-DCC7-7AA138E2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rmAutofit/>
          </a:bodyPr>
          <a:lstStyle/>
          <a:p>
            <a:r>
              <a:rPr lang="en-ZA" dirty="0"/>
              <a:t>Project Goal</a:t>
            </a:r>
            <a:endParaRPr lang="en-ZA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4A6BC8-8F81-3B22-579A-9DCCC10DA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4" r="2" b="2"/>
          <a:stretch>
            <a:fillRect/>
          </a:stretch>
        </p:blipFill>
        <p:spPr>
          <a:xfrm>
            <a:off x="20" y="10"/>
            <a:ext cx="7584124" cy="685799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0639-8B02-F20D-A4BC-046C49F345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24193" y="2880360"/>
            <a:ext cx="3960440" cy="327461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Real-time obstacle detection for visually impaired users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Audio feedback via directional buzzers (Left / Center / Right)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Using Time-of-Flight (</a:t>
            </a:r>
            <a:r>
              <a:rPr lang="en-US" altLang="en-US" sz="1800" dirty="0" err="1"/>
              <a:t>ToF</a:t>
            </a:r>
            <a:r>
              <a:rPr lang="en-US" altLang="en-US" sz="1800" dirty="0"/>
              <a:t>) sensors + ESP32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Currently on breadboard, moving toward fully portable hat-mounted version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92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87B3-7193-D7F0-B8A7-F4683898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rmAutofit/>
          </a:bodyPr>
          <a:lstStyle/>
          <a:p>
            <a:r>
              <a:rPr lang="en-ZA" sz="7000"/>
              <a:t>Sensors &amp; Core Components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E79331-D67D-5303-FE7F-64CB2112A52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52585268"/>
              </p:ext>
            </p:extLst>
          </p:nvPr>
        </p:nvGraphicFramePr>
        <p:xfrm>
          <a:off x="612775" y="3598635"/>
          <a:ext cx="10972801" cy="2403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6986">
                  <a:extLst>
                    <a:ext uri="{9D8B030D-6E8A-4147-A177-3AD203B41FA5}">
                      <a16:colId xmlns:a16="http://schemas.microsoft.com/office/drawing/2014/main" val="1778867914"/>
                    </a:ext>
                  </a:extLst>
                </a:gridCol>
                <a:gridCol w="2238829">
                  <a:extLst>
                    <a:ext uri="{9D8B030D-6E8A-4147-A177-3AD203B41FA5}">
                      <a16:colId xmlns:a16="http://schemas.microsoft.com/office/drawing/2014/main" val="1274774115"/>
                    </a:ext>
                  </a:extLst>
                </a:gridCol>
                <a:gridCol w="4366986">
                  <a:extLst>
                    <a:ext uri="{9D8B030D-6E8A-4147-A177-3AD203B41FA5}">
                      <a16:colId xmlns:a16="http://schemas.microsoft.com/office/drawing/2014/main" val="3582073453"/>
                    </a:ext>
                  </a:extLst>
                </a:gridCol>
              </a:tblGrid>
              <a:tr h="480786">
                <a:tc>
                  <a:txBody>
                    <a:bodyPr/>
                    <a:lstStyle/>
                    <a:p>
                      <a:r>
                        <a:rPr lang="en-ZA" sz="2200"/>
                        <a:t>Component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Quantity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Notes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639939438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VL53L1X ToF Sensors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3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Left, Centre, Right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3591538452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ESP32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1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Development board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3988199631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Active Buzzers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3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Left, Centre, Right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2522692204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r>
                        <a:rPr lang="en-ZA" sz="2200"/>
                        <a:t>Power Supply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1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5V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2898336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262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D248-A1CC-E9FD-8C51-FFD485C8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rmAutofit/>
          </a:bodyPr>
          <a:lstStyle/>
          <a:p>
            <a:r>
              <a:rPr lang="en-ZA" sz="7700"/>
              <a:t>Wiring &amp; Connectors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A08284-B774-D913-FC06-7347C914342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08865594"/>
              </p:ext>
            </p:extLst>
          </p:nvPr>
        </p:nvGraphicFramePr>
        <p:xfrm>
          <a:off x="612775" y="3598635"/>
          <a:ext cx="10972801" cy="2403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6986">
                  <a:extLst>
                    <a:ext uri="{9D8B030D-6E8A-4147-A177-3AD203B41FA5}">
                      <a16:colId xmlns:a16="http://schemas.microsoft.com/office/drawing/2014/main" val="2027257138"/>
                    </a:ext>
                  </a:extLst>
                </a:gridCol>
                <a:gridCol w="2238829">
                  <a:extLst>
                    <a:ext uri="{9D8B030D-6E8A-4147-A177-3AD203B41FA5}">
                      <a16:colId xmlns:a16="http://schemas.microsoft.com/office/drawing/2014/main" val="2634759064"/>
                    </a:ext>
                  </a:extLst>
                </a:gridCol>
                <a:gridCol w="4366986">
                  <a:extLst>
                    <a:ext uri="{9D8B030D-6E8A-4147-A177-3AD203B41FA5}">
                      <a16:colId xmlns:a16="http://schemas.microsoft.com/office/drawing/2014/main" val="92306086"/>
                    </a:ext>
                  </a:extLst>
                </a:gridCol>
              </a:tblGrid>
              <a:tr h="480786">
                <a:tc>
                  <a:txBody>
                    <a:bodyPr/>
                    <a:lstStyle/>
                    <a:p>
                      <a:r>
                        <a:rPr lang="en-ZA" sz="2200"/>
                        <a:t>Component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Quantity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Usage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3811981947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Male-to-female jumper wires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+- 20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ESP32 → Breadboard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401956094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Female-to-female jumper wires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+- 20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Sensor daisy-chaining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4141386828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Full-size breadboard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1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Main board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2200373112"/>
                  </a:ext>
                </a:extLst>
              </a:tr>
              <a:tr h="48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Mini breadboards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r>
                        <a:rPr lang="en-ZA" sz="2200"/>
                        <a:t>3</a:t>
                      </a:r>
                    </a:p>
                  </a:txBody>
                  <a:tcPr marL="109269" marR="109269" marT="54635" marB="546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200">
                          <a:effectLst/>
                        </a:rPr>
                        <a:t>One per sensor</a:t>
                      </a:r>
                    </a:p>
                  </a:txBody>
                  <a:tcPr marL="109269" marR="109269" marT="54635" marB="54635"/>
                </a:tc>
                <a:extLst>
                  <a:ext uri="{0D108BD9-81ED-4DB2-BD59-A6C34878D82A}">
                    <a16:rowId xmlns:a16="http://schemas.microsoft.com/office/drawing/2014/main" val="1837228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82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9A14-9068-8E41-4DAE-716EDAF8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rmAutofit/>
          </a:bodyPr>
          <a:lstStyle/>
          <a:p>
            <a:r>
              <a:rPr lang="en-ZA" sz="7000"/>
              <a:t>Components Not Currently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5FD451-4C0E-3456-2DC6-1151029D6B7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66813393"/>
              </p:ext>
            </p:extLst>
          </p:nvPr>
        </p:nvGraphicFramePr>
        <p:xfrm>
          <a:off x="612775" y="3523569"/>
          <a:ext cx="10972800" cy="255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8252">
                  <a:extLst>
                    <a:ext uri="{9D8B030D-6E8A-4147-A177-3AD203B41FA5}">
                      <a16:colId xmlns:a16="http://schemas.microsoft.com/office/drawing/2014/main" val="1832452404"/>
                    </a:ext>
                  </a:extLst>
                </a:gridCol>
                <a:gridCol w="5814548">
                  <a:extLst>
                    <a:ext uri="{9D8B030D-6E8A-4147-A177-3AD203B41FA5}">
                      <a16:colId xmlns:a16="http://schemas.microsoft.com/office/drawing/2014/main" val="3691566844"/>
                    </a:ext>
                  </a:extLst>
                </a:gridCol>
              </a:tblGrid>
              <a:tr h="638516">
                <a:tc>
                  <a:txBody>
                    <a:bodyPr/>
                    <a:lstStyle/>
                    <a:p>
                      <a:r>
                        <a:rPr lang="en-ZA" sz="2900"/>
                        <a:t>Component</a:t>
                      </a:r>
                    </a:p>
                  </a:txBody>
                  <a:tcPr marL="145117" marR="145117" marT="72559" marB="72559"/>
                </a:tc>
                <a:tc>
                  <a:txBody>
                    <a:bodyPr/>
                    <a:lstStyle/>
                    <a:p>
                      <a:r>
                        <a:rPr lang="en-ZA" sz="2900"/>
                        <a:t>Reason</a:t>
                      </a:r>
                    </a:p>
                  </a:txBody>
                  <a:tcPr marL="145117" marR="145117" marT="72559" marB="72559"/>
                </a:tc>
                <a:extLst>
                  <a:ext uri="{0D108BD9-81ED-4DB2-BD59-A6C34878D82A}">
                    <a16:rowId xmlns:a16="http://schemas.microsoft.com/office/drawing/2014/main" val="2104447359"/>
                  </a:ext>
                </a:extLst>
              </a:tr>
              <a:tr h="638516">
                <a:tc>
                  <a:txBody>
                    <a:bodyPr/>
                    <a:lstStyle/>
                    <a:p>
                      <a:r>
                        <a:rPr lang="en-ZA" sz="2900"/>
                        <a:t>Vibration Motors</a:t>
                      </a:r>
                    </a:p>
                  </a:txBody>
                  <a:tcPr marL="145117" marR="145117" marT="72559" marB="72559"/>
                </a:tc>
                <a:tc>
                  <a:txBody>
                    <a:bodyPr/>
                    <a:lstStyle/>
                    <a:p>
                      <a:r>
                        <a:rPr lang="en-ZA" sz="2900"/>
                        <a:t>Skipped for now</a:t>
                      </a:r>
                    </a:p>
                  </a:txBody>
                  <a:tcPr marL="145117" marR="145117" marT="72559" marB="72559"/>
                </a:tc>
                <a:extLst>
                  <a:ext uri="{0D108BD9-81ED-4DB2-BD59-A6C34878D82A}">
                    <a16:rowId xmlns:a16="http://schemas.microsoft.com/office/drawing/2014/main" val="3233739927"/>
                  </a:ext>
                </a:extLst>
              </a:tr>
              <a:tr h="638516">
                <a:tc>
                  <a:txBody>
                    <a:bodyPr/>
                    <a:lstStyle/>
                    <a:p>
                      <a:r>
                        <a:rPr lang="en-ZA" sz="2900"/>
                        <a:t>ESP32-CAM</a:t>
                      </a:r>
                    </a:p>
                  </a:txBody>
                  <a:tcPr marL="145117" marR="145117" marT="72559" marB="72559"/>
                </a:tc>
                <a:tc>
                  <a:txBody>
                    <a:bodyPr/>
                    <a:lstStyle/>
                    <a:p>
                      <a:r>
                        <a:rPr lang="en-ZA" sz="2900"/>
                        <a:t>Phase 2</a:t>
                      </a:r>
                    </a:p>
                  </a:txBody>
                  <a:tcPr marL="145117" marR="145117" marT="72559" marB="72559"/>
                </a:tc>
                <a:extLst>
                  <a:ext uri="{0D108BD9-81ED-4DB2-BD59-A6C34878D82A}">
                    <a16:rowId xmlns:a16="http://schemas.microsoft.com/office/drawing/2014/main" val="3827223828"/>
                  </a:ext>
                </a:extLst>
              </a:tr>
              <a:tr h="638516">
                <a:tc>
                  <a:txBody>
                    <a:bodyPr/>
                    <a:lstStyle/>
                    <a:p>
                      <a:r>
                        <a:rPr lang="en-ZA" sz="2900"/>
                        <a:t>Arduino Uno</a:t>
                      </a:r>
                    </a:p>
                  </a:txBody>
                  <a:tcPr marL="145117" marR="145117" marT="72559" marB="72559"/>
                </a:tc>
                <a:tc>
                  <a:txBody>
                    <a:bodyPr/>
                    <a:lstStyle/>
                    <a:p>
                      <a:r>
                        <a:rPr lang="en-ZA" sz="2900"/>
                        <a:t>Backup and testing</a:t>
                      </a:r>
                    </a:p>
                  </a:txBody>
                  <a:tcPr marL="145117" marR="145117" marT="72559" marB="72559"/>
                </a:tc>
                <a:extLst>
                  <a:ext uri="{0D108BD9-81ED-4DB2-BD59-A6C34878D82A}">
                    <a16:rowId xmlns:a16="http://schemas.microsoft.com/office/drawing/2014/main" val="1578330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74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D4A7-CBDA-2C7B-02EB-6083F3F5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rmAutofit/>
          </a:bodyPr>
          <a:lstStyle/>
          <a:p>
            <a:r>
              <a:rPr lang="en-ZA" sz="7000"/>
              <a:t>Next Steps &amp; Additions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484C9A6-C9C5-D7F6-EAE4-0BD36D9F261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0501594"/>
              </p:ext>
            </p:extLst>
          </p:nvPr>
        </p:nvGraphicFramePr>
        <p:xfrm>
          <a:off x="870170" y="3429000"/>
          <a:ext cx="1045801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1945">
                  <a:extLst>
                    <a:ext uri="{9D8B030D-6E8A-4147-A177-3AD203B41FA5}">
                      <a16:colId xmlns:a16="http://schemas.microsoft.com/office/drawing/2014/main" val="1055141541"/>
                    </a:ext>
                  </a:extLst>
                </a:gridCol>
                <a:gridCol w="5256065">
                  <a:extLst>
                    <a:ext uri="{9D8B030D-6E8A-4147-A177-3AD203B41FA5}">
                      <a16:colId xmlns:a16="http://schemas.microsoft.com/office/drawing/2014/main" val="112492887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ZA" sz="3100"/>
                        <a:t>Component</a:t>
                      </a:r>
                    </a:p>
                  </a:txBody>
                  <a:tcPr marL="155864" marR="155864" marT="77932" marB="77932"/>
                </a:tc>
                <a:tc>
                  <a:txBody>
                    <a:bodyPr/>
                    <a:lstStyle/>
                    <a:p>
                      <a:r>
                        <a:rPr lang="en-ZA" sz="3100"/>
                        <a:t>When</a:t>
                      </a:r>
                    </a:p>
                  </a:txBody>
                  <a:tcPr marL="155864" marR="155864" marT="77932" marB="77932"/>
                </a:tc>
                <a:extLst>
                  <a:ext uri="{0D108BD9-81ED-4DB2-BD59-A6C34878D82A}">
                    <a16:rowId xmlns:a16="http://schemas.microsoft.com/office/drawing/2014/main" val="104202971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ZA" sz="3100"/>
                        <a:t>Boost converter + batteries</a:t>
                      </a:r>
                    </a:p>
                  </a:txBody>
                  <a:tcPr marL="155864" marR="155864" marT="77932" marB="77932"/>
                </a:tc>
                <a:tc>
                  <a:txBody>
                    <a:bodyPr/>
                    <a:lstStyle/>
                    <a:p>
                      <a:r>
                        <a:rPr lang="en-ZA" sz="3100"/>
                        <a:t>Face-mounted implantation</a:t>
                      </a:r>
                    </a:p>
                  </a:txBody>
                  <a:tcPr marL="155864" marR="155864" marT="77932" marB="77932"/>
                </a:tc>
                <a:extLst>
                  <a:ext uri="{0D108BD9-81ED-4DB2-BD59-A6C34878D82A}">
                    <a16:rowId xmlns:a16="http://schemas.microsoft.com/office/drawing/2014/main" val="39980078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ZA" sz="3100"/>
                        <a:t>ESP32-CAM</a:t>
                      </a:r>
                    </a:p>
                  </a:txBody>
                  <a:tcPr marL="155864" marR="155864" marT="77932" marB="77932"/>
                </a:tc>
                <a:tc>
                  <a:txBody>
                    <a:bodyPr/>
                    <a:lstStyle/>
                    <a:p>
                      <a:r>
                        <a:rPr lang="en-ZA" sz="3100"/>
                        <a:t>Final implementation</a:t>
                      </a:r>
                    </a:p>
                  </a:txBody>
                  <a:tcPr marL="155864" marR="155864" marT="77932" marB="77932"/>
                </a:tc>
                <a:extLst>
                  <a:ext uri="{0D108BD9-81ED-4DB2-BD59-A6C34878D82A}">
                    <a16:rowId xmlns:a16="http://schemas.microsoft.com/office/drawing/2014/main" val="402113548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ZA" sz="3100"/>
                        <a:t>Vibration motors</a:t>
                      </a:r>
                    </a:p>
                  </a:txBody>
                  <a:tcPr marL="155864" marR="155864" marT="77932" marB="77932"/>
                </a:tc>
                <a:tc>
                  <a:txBody>
                    <a:bodyPr/>
                    <a:lstStyle/>
                    <a:p>
                      <a:r>
                        <a:rPr lang="en-ZA" sz="3100"/>
                        <a:t>Silent haptic feedback</a:t>
                      </a:r>
                    </a:p>
                  </a:txBody>
                  <a:tcPr marL="155864" marR="155864" marT="77932" marB="77932"/>
                </a:tc>
                <a:extLst>
                  <a:ext uri="{0D108BD9-81ED-4DB2-BD59-A6C34878D82A}">
                    <a16:rowId xmlns:a16="http://schemas.microsoft.com/office/drawing/2014/main" val="2561600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95738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{8D1100D5-0018-47F0-9B2D-C0711E6954F2}0f45c1b8-b519-4737-8f12-a18148944ef7-TFfcaeb239-e0ad-43c4-9739-4084ddd7c62fe496f549_win32</Template>
  <TotalTime>73</TotalTime>
  <Words>152</Words>
  <Application>Microsoft Office PowerPoint</Application>
  <PresentationFormat>Widescreen</PresentationFormat>
  <Paragraphs>63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Bahnschrift SemiLight</vt:lpstr>
      <vt:lpstr>Blockwork elegance</vt:lpstr>
      <vt:lpstr>PowerPoint Presentation</vt:lpstr>
      <vt:lpstr>Project Goal</vt:lpstr>
      <vt:lpstr>Sensors &amp; Core Components</vt:lpstr>
      <vt:lpstr>Wiring &amp; Connectors</vt:lpstr>
      <vt:lpstr>Components Not Currently Used</vt:lpstr>
      <vt:lpstr>Next Steps &amp; Additions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Charlton Solomons</dc:creator>
  <cp:lastModifiedBy>Charlton Solomons</cp:lastModifiedBy>
  <cp:revision>1</cp:revision>
  <dcterms:created xsi:type="dcterms:W3CDTF">2026-05-20T09:43:47Z</dcterms:created>
  <dcterms:modified xsi:type="dcterms:W3CDTF">2026-05-20T10:57:31Z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